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8" r:id="rId5"/>
    <p:sldId id="259" r:id="rId6"/>
    <p:sldId id="260" r:id="rId7"/>
    <p:sldId id="269" r:id="rId8"/>
    <p:sldId id="272" r:id="rId9"/>
    <p:sldId id="262" r:id="rId10"/>
    <p:sldId id="270" r:id="rId11"/>
    <p:sldId id="263" r:id="rId12"/>
    <p:sldId id="261" r:id="rId13"/>
    <p:sldId id="273" r:id="rId14"/>
    <p:sldId id="265" r:id="rId15"/>
    <p:sldId id="274" r:id="rId16"/>
    <p:sldId id="267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4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.png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26280" cy="6858000"/>
          </a:xfrm>
          <a:prstGeom prst="rect">
            <a:avLst/>
          </a:prstGeom>
          <a:solidFill>
            <a:srgbClr val="16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食堂温度监测与预警系统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7772400" cy="389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</a:t>
            </a:r>
            <a:endParaRPr sz="2000" b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164840"/>
            <a:ext cx="7315200" cy="2792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课前准备</a:t>
            </a:r>
            <a:endParaRPr lang="zh-CN" altLang="en-US" sz="3200" b="1">
              <a:solidFill>
                <a:srgbClr val="CCDA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阅读导学案中的项目背景资料</a:t>
            </a:r>
            <a:endParaRPr lang="zh-CN" altLang="en-US" sz="3200" b="1">
              <a:solidFill>
                <a:srgbClr val="CCDAE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en-US" altLang="zh-CN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打开信息系统在线搭建模拟平台</a:t>
            </a:r>
            <a:r>
              <a:rPr lang="en-US" altLang="zh-CN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已打开的网页</a:t>
            </a:r>
            <a:r>
              <a:rPr lang="en-US" altLang="zh-CN" sz="3200" b="1">
                <a:solidFill>
                  <a:srgbClr val="CCDAEE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3200" b="1">
              <a:solidFill>
                <a:srgbClr val="CCDA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5279" y="1417320"/>
            <a:ext cx="4023360" cy="713232"/>
          </a:xfrm>
          <a:prstGeom prst="roundRect">
            <a:avLst>
              <a:gd name="adj" fmla="val 18000"/>
            </a:avLst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146304" cy="71323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453896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98279" y="1453896"/>
            <a:ext cx="27889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E3F5"/>
                </a:solidFill>
                <a:latin typeface="微软雅黑" panose="020B0503020204020204" charset="-122"/>
                <a:ea typeface="微软雅黑" panose="020B0503020204020204" charset="-122"/>
              </a:rPr>
              <a:t>查看 / 维护</a:t>
            </a:r>
            <a:endParaRPr sz="1400" b="0">
              <a:solidFill>
                <a:srgbClr val="D8E3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955279" y="2313432"/>
            <a:ext cx="4023360" cy="713232"/>
          </a:xfrm>
          <a:prstGeom prst="roundRect">
            <a:avLst>
              <a:gd name="adj" fmla="val 18000"/>
            </a:avLst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313432"/>
            <a:ext cx="146304" cy="71323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2350008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98279" y="2350008"/>
            <a:ext cx="27889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E3F5"/>
                </a:solidFill>
                <a:latin typeface="微软雅黑" panose="020B0503020204020204" charset="-122"/>
                <a:ea typeface="微软雅黑" panose="020B0503020204020204" charset="-122"/>
              </a:rPr>
              <a:t>传感器 + 执行器</a:t>
            </a:r>
            <a:endParaRPr sz="1400" b="0">
              <a:solidFill>
                <a:srgbClr val="D8E3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955279" y="3209544"/>
            <a:ext cx="4023360" cy="713232"/>
          </a:xfrm>
          <a:prstGeom prst="roundRect">
            <a:avLst>
              <a:gd name="adj" fmla="val 18000"/>
            </a:avLst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3209544"/>
            <a:ext cx="146304" cy="71323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3246120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8279" y="3246120"/>
            <a:ext cx="27889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E3F5"/>
                </a:solidFill>
                <a:latin typeface="微软雅黑" panose="020B0503020204020204" charset="-122"/>
                <a:ea typeface="微软雅黑" panose="020B0503020204020204" charset="-122"/>
              </a:rPr>
              <a:t>终端代码 + 服务端</a:t>
            </a:r>
            <a:endParaRPr sz="1400" b="0">
              <a:solidFill>
                <a:srgbClr val="D8E3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55279" y="4105656"/>
            <a:ext cx="4023360" cy="713232"/>
          </a:xfrm>
          <a:prstGeom prst="roundRect">
            <a:avLst>
              <a:gd name="adj" fmla="val 18000"/>
            </a:avLst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4105656"/>
            <a:ext cx="146304" cy="71323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4142232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98279" y="4142232"/>
            <a:ext cx="27889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E3F5"/>
                </a:solidFill>
                <a:latin typeface="微软雅黑" panose="020B0503020204020204" charset="-122"/>
                <a:ea typeface="微软雅黑" panose="020B0503020204020204" charset="-122"/>
              </a:rPr>
              <a:t>IoT / WiFi</a:t>
            </a:r>
            <a:endParaRPr sz="1400" b="0">
              <a:solidFill>
                <a:srgbClr val="D8E3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955279" y="5001768"/>
            <a:ext cx="4023360" cy="713232"/>
          </a:xfrm>
          <a:prstGeom prst="roundRect">
            <a:avLst>
              <a:gd name="adj" fmla="val 18000"/>
            </a:avLst>
          </a:prstGeom>
          <a:solidFill>
            <a:srgbClr val="22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5001768"/>
            <a:ext cx="146304" cy="713232"/>
          </a:xfrm>
          <a:prstGeom prst="rect">
            <a:avLst/>
          </a:prstGeom>
          <a:solidFill>
            <a:srgbClr val="236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5038344"/>
            <a:ext cx="9144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98279" y="5038344"/>
            <a:ext cx="278892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E3F5"/>
                </a:solidFill>
                <a:latin typeface="微软雅黑" panose="020B0503020204020204" charset="-122"/>
                <a:ea typeface="微软雅黑" panose="020B0503020204020204" charset="-122"/>
              </a:rPr>
              <a:t>采集 / 上传 / 存储</a:t>
            </a:r>
            <a:endParaRPr sz="1400" b="0">
              <a:solidFill>
                <a:srgbClr val="D8E3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  =  人  +  硬件  +  软件  +  网络  +  数据</a:t>
            </a:r>
            <a:endParaRPr sz="1600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73025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一、情境导入 · 本课目标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11082020" cy="363347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1183112" cy="4572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29844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5175" y="1278573"/>
            <a:ext cx="755650" cy="36893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24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情境</a:t>
            </a:r>
            <a:endParaRPr sz="24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10817352" cy="37826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8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某中学食堂发生了一次食物险遭变质的风险：一天半夜，制冷设备发生故障，储物间食材温度异常升高，幸好食堂负责人及时发现。</a:t>
            </a:r>
            <a:endParaRPr sz="28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r>
              <a:rPr sz="2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请设计「食堂温度监测与预警系统」：自动感知温度变化；超过阈值时现场声音提醒；并通过物联网模块把异常信息发给值班人员；值班人员用手机访问服务器页面查看实时温度和历史记录。</a:t>
            </a:r>
            <a:endParaRPr sz="28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5000"/>
              </a:lnSpc>
            </a:pPr>
            <a:endParaRPr sz="28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4825365"/>
            <a:ext cx="5486400" cy="3892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系统至少要完成的 4 件事</a:t>
            </a:r>
            <a:endParaRPr sz="2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636879" y="5236845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E6F2F6"/>
          </a:solidFill>
          <a:ln w="1905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ectangle 16"/>
          <p:cNvSpPr/>
          <p:nvPr>
            <p:custDataLst>
              <p:tags r:id="rId2"/>
            </p:custDataLst>
          </p:nvPr>
        </p:nvSpPr>
        <p:spPr>
          <a:xfrm>
            <a:off x="636879" y="5236845"/>
            <a:ext cx="2606040" cy="146304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>
            <p:custDataLst>
              <p:tags r:id="rId3"/>
            </p:custDataLst>
          </p:nvPr>
        </p:nvSpPr>
        <p:spPr>
          <a:xfrm>
            <a:off x="636879" y="5436743"/>
            <a:ext cx="2606040" cy="4597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感知温度</a:t>
            </a:r>
            <a:endParaRPr sz="24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4"/>
            </p:custDataLst>
          </p:nvPr>
        </p:nvSpPr>
        <p:spPr>
          <a:xfrm>
            <a:off x="636879" y="5923598"/>
            <a:ext cx="2606040" cy="3181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温湿度传感器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5"/>
            </p:custDataLst>
          </p:nvPr>
        </p:nvSpPr>
        <p:spPr>
          <a:xfrm>
            <a:off x="3407511" y="5236845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FDECDD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Rectangle 20"/>
          <p:cNvSpPr/>
          <p:nvPr>
            <p:custDataLst>
              <p:tags r:id="rId6"/>
            </p:custDataLst>
          </p:nvPr>
        </p:nvSpPr>
        <p:spPr>
          <a:xfrm>
            <a:off x="3407511" y="5236845"/>
            <a:ext cx="2606040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3407511" y="5436743"/>
            <a:ext cx="2606040" cy="4597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现场提醒</a:t>
            </a:r>
            <a:endParaRPr sz="24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3407511" y="5923598"/>
            <a:ext cx="2606040" cy="3181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蜂鸣器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9"/>
            </p:custDataLst>
          </p:nvPr>
        </p:nvSpPr>
        <p:spPr>
          <a:xfrm>
            <a:off x="6178143" y="5236845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EAF1FB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ectangle 24"/>
          <p:cNvSpPr/>
          <p:nvPr>
            <p:custDataLst>
              <p:tags r:id="rId10"/>
            </p:custDataLst>
          </p:nvPr>
        </p:nvSpPr>
        <p:spPr>
          <a:xfrm>
            <a:off x="6178143" y="5236845"/>
            <a:ext cx="260604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>
            <p:custDataLst>
              <p:tags r:id="rId11"/>
            </p:custDataLst>
          </p:nvPr>
        </p:nvSpPr>
        <p:spPr>
          <a:xfrm>
            <a:off x="6178143" y="5436743"/>
            <a:ext cx="2606040" cy="4597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数据上传</a:t>
            </a:r>
            <a:endParaRPr sz="2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2"/>
            </p:custDataLst>
          </p:nvPr>
        </p:nvSpPr>
        <p:spPr>
          <a:xfrm>
            <a:off x="6178143" y="5923598"/>
            <a:ext cx="2606040" cy="3181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IoT + </a:t>
            </a:r>
            <a:r>
              <a:rPr lang="zh-CN"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>
            <p:custDataLst>
              <p:tags r:id="rId13"/>
            </p:custDataLst>
          </p:nvPr>
        </p:nvSpPr>
        <p:spPr>
          <a:xfrm>
            <a:off x="8948775" y="5236845"/>
            <a:ext cx="2606040" cy="1097280"/>
          </a:xfrm>
          <a:prstGeom prst="roundRect">
            <a:avLst>
              <a:gd name="adj" fmla="val 15000"/>
            </a:avLst>
          </a:prstGeom>
          <a:solidFill>
            <a:srgbClr val="EEF8F2"/>
          </a:solidFill>
          <a:ln w="19050">
            <a:solidFill>
              <a:srgbClr val="23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ectangle 28"/>
          <p:cNvSpPr/>
          <p:nvPr>
            <p:custDataLst>
              <p:tags r:id="rId14"/>
            </p:custDataLst>
          </p:nvPr>
        </p:nvSpPr>
        <p:spPr>
          <a:xfrm>
            <a:off x="8948775" y="5236845"/>
            <a:ext cx="2606040" cy="146304"/>
          </a:xfrm>
          <a:prstGeom prst="rect">
            <a:avLst/>
          </a:prstGeom>
          <a:solidFill>
            <a:srgbClr val="236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>
            <p:custDataLst>
              <p:tags r:id="rId15"/>
            </p:custDataLst>
          </p:nvPr>
        </p:nvSpPr>
        <p:spPr>
          <a:xfrm>
            <a:off x="8948775" y="5436743"/>
            <a:ext cx="2606040" cy="4597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远程查看</a:t>
            </a:r>
            <a:endParaRPr sz="24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16"/>
            </p:custDataLst>
          </p:nvPr>
        </p:nvSpPr>
        <p:spPr>
          <a:xfrm>
            <a:off x="8948775" y="5923598"/>
            <a:ext cx="2606040" cy="3181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移动终端</a:t>
            </a: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 / 手机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/>
      <p:bldP spid="31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二、活动一 · 任务要求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70408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活动一 · 硬件组成：任务步骤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>
            <p:custDataLst>
              <p:tags r:id="rId1"/>
            </p:custDataLst>
          </p:nvPr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927418" y="204089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417320" y="196596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根据项目背景，找出系统中包含的硬件，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并把它们一一标注出来。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>
            <p:custDataLst>
              <p:tags r:id="rId4"/>
            </p:custDataLst>
          </p:nvPr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927418" y="290957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1417320" y="2834640"/>
            <a:ext cx="5943600" cy="37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打开学习活动平台 → 点击「硬件搭建」界面。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>
            <p:custDataLst>
              <p:tags r:id="rId7"/>
            </p:custDataLst>
          </p:nvPr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927418" y="377825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417320" y="370332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在「学生半成品画布」中，把缺失的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硬件拖入画布，完成系统初步搭建。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10"/>
            </p:custDataLst>
          </p:nvPr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927418" y="464693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1417320" y="457200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在导学案上画出该信息系统的简略示意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图（参考导学案下方的 2 个示例）。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1425" y="1645920"/>
            <a:ext cx="7140575" cy="4431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三、活动一 · 系统框架图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8" name="组合 67"/>
          <p:cNvGrpSpPr/>
          <p:nvPr/>
        </p:nvGrpSpPr>
        <p:grpSpPr>
          <a:xfrm>
            <a:off x="575310" y="1325880"/>
            <a:ext cx="10980000" cy="2287905"/>
            <a:chOff x="792" y="2088"/>
            <a:chExt cx="15984" cy="3312"/>
          </a:xfrm>
        </p:grpSpPr>
        <p:sp>
          <p:nvSpPr>
            <p:cNvPr id="9" name="Rounded Rectangle 8"/>
            <p:cNvSpPr/>
            <p:nvPr/>
          </p:nvSpPr>
          <p:spPr>
            <a:xfrm>
              <a:off x="792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E6F2F6"/>
            </a:solidFill>
            <a:ln w="12700">
              <a:solidFill>
                <a:srgbClr val="246B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92" y="2088"/>
              <a:ext cx="2232" cy="230"/>
            </a:xfrm>
            <a:prstGeom prst="rect">
              <a:avLst/>
            </a:prstGeom>
            <a:solidFill>
              <a:srgbClr val="246B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92" y="2547"/>
              <a:ext cx="2232" cy="768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46B86"/>
                  </a:solidFill>
                  <a:latin typeface="微软雅黑" panose="020B0503020204020204" charset="-122"/>
                  <a:ea typeface="微软雅黑" panose="020B0503020204020204" charset="-122"/>
                </a:rPr>
                <a:t>温湿度</a:t>
              </a:r>
              <a:endParaRPr sz="14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46B86"/>
                  </a:solidFill>
                  <a:latin typeface="微软雅黑" panose="020B0503020204020204" charset="-122"/>
                  <a:ea typeface="微软雅黑" panose="020B0503020204020204" charset="-122"/>
                </a:rPr>
                <a:t>传感器</a:t>
              </a:r>
              <a:endParaRPr sz="14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3067" y="2664"/>
              <a:ext cx="432" cy="403"/>
            </a:xfrm>
            <a:prstGeom prst="rightArrow">
              <a:avLst/>
            </a:prstGeom>
            <a:solidFill>
              <a:srgbClr val="246B8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542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EAF1FB"/>
            </a:solidFill>
            <a:ln w="1270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542" y="2088"/>
              <a:ext cx="2232" cy="23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42" y="2547"/>
              <a:ext cx="2232" cy="768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E75B6"/>
                  </a:solidFill>
                  <a:latin typeface="微软雅黑" panose="020B0503020204020204" charset="-122"/>
                  <a:ea typeface="微软雅黑" panose="020B0503020204020204" charset="-122"/>
                </a:rPr>
                <a:t>智能终端</a:t>
              </a:r>
              <a:endPara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E75B6"/>
                  </a:solidFill>
                  <a:latin typeface="微软雅黑" panose="020B0503020204020204" charset="-122"/>
                  <a:ea typeface="微软雅黑" panose="020B0503020204020204" charset="-122"/>
                </a:rPr>
                <a:t>micro:bit</a:t>
              </a:r>
              <a:endPara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6293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ECE3F4"/>
            </a:solidFill>
            <a:ln w="12700">
              <a:solidFill>
                <a:srgbClr val="7030A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93" y="2088"/>
              <a:ext cx="2232" cy="23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93" y="2726"/>
              <a:ext cx="2232" cy="409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IoT 模块</a:t>
              </a:r>
              <a:endParaRPr sz="14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043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FFF6E8"/>
            </a:solidFill>
            <a:ln w="12700"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043" y="2088"/>
              <a:ext cx="2232" cy="23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043" y="2726"/>
              <a:ext cx="2232" cy="409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WiFi / 网络</a:t>
              </a:r>
              <a:endParaRPr sz="14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1794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FDECDD"/>
            </a:solidFill>
            <a:ln w="12700">
              <a:solidFill>
                <a:srgbClr val="ED7D3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1794" y="2088"/>
              <a:ext cx="2232" cy="230"/>
            </a:xfrm>
            <a:prstGeom prst="rect">
              <a:avLst/>
            </a:prstGeom>
            <a:solidFill>
              <a:srgbClr val="ED7D3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794" y="2547"/>
              <a:ext cx="2232" cy="768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</a:rPr>
                <a:t>Flask</a:t>
              </a:r>
              <a:endParaRPr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ED7D31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</a:t>
              </a:r>
              <a:endParaRPr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4544" y="2088"/>
              <a:ext cx="2232" cy="1368"/>
            </a:xfrm>
            <a:prstGeom prst="roundRect">
              <a:avLst>
                <a:gd name="adj" fmla="val 20000"/>
              </a:avLst>
            </a:prstGeom>
            <a:solidFill>
              <a:srgbClr val="EEF8F2"/>
            </a:solidFill>
            <a:ln w="12700">
              <a:solidFill>
                <a:srgbClr val="236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4544" y="2088"/>
              <a:ext cx="2232" cy="230"/>
            </a:xfrm>
            <a:prstGeom prst="rect">
              <a:avLst/>
            </a:prstGeom>
            <a:solidFill>
              <a:srgbClr val="2368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544" y="2547"/>
              <a:ext cx="2232" cy="768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3684B"/>
                  </a:solidFill>
                  <a:latin typeface="微软雅黑" panose="020B0503020204020204" charset="-122"/>
                  <a:ea typeface="微软雅黑" panose="020B0503020204020204" charset="-122"/>
                </a:rPr>
                <a:t>SQLite</a:t>
              </a:r>
              <a:endParaRPr sz="14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400" b="1">
                  <a:solidFill>
                    <a:srgbClr val="23684B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数据库</a:t>
              </a:r>
              <a:endParaRPr sz="14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542" y="4176"/>
              <a:ext cx="2232" cy="1224"/>
            </a:xfrm>
            <a:prstGeom prst="roundRect">
              <a:avLst>
                <a:gd name="adj" fmla="val 18000"/>
              </a:avLst>
            </a:prstGeom>
            <a:solidFill>
              <a:srgbClr val="FFF0EE"/>
            </a:solidFill>
            <a:ln w="12700">
              <a:solidFill>
                <a:srgbClr val="9A39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542" y="4176"/>
              <a:ext cx="2232" cy="202"/>
            </a:xfrm>
            <a:prstGeom prst="rect">
              <a:avLst/>
            </a:prstGeom>
            <a:solidFill>
              <a:srgbClr val="9A39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42" y="4574"/>
              <a:ext cx="2232" cy="716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300" b="1">
                  <a:solidFill>
                    <a:srgbClr val="9A392F"/>
                  </a:solidFill>
                  <a:latin typeface="微软雅黑" panose="020B0503020204020204" charset="-122"/>
                  <a:ea typeface="微软雅黑" panose="020B0503020204020204" charset="-122"/>
                </a:rPr>
                <a:t>蜂鸣器</a:t>
              </a:r>
              <a:endParaRPr sz="1300" b="1">
                <a:solidFill>
                  <a:srgbClr val="9A392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300" b="1">
                  <a:solidFill>
                    <a:srgbClr val="9A392F"/>
                  </a:solidFill>
                  <a:latin typeface="微软雅黑" panose="020B0503020204020204" charset="-122"/>
                  <a:ea typeface="微软雅黑" panose="020B0503020204020204" charset="-122"/>
                </a:rPr>
                <a:t>（执行器）</a:t>
              </a:r>
              <a:endParaRPr sz="1300" b="1">
                <a:solidFill>
                  <a:srgbClr val="9A392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Down Arrow 34"/>
            <p:cNvSpPr/>
            <p:nvPr/>
          </p:nvSpPr>
          <p:spPr>
            <a:xfrm>
              <a:off x="4471" y="3514"/>
              <a:ext cx="374" cy="403"/>
            </a:xfrm>
            <a:prstGeom prst="downArrow">
              <a:avLst/>
            </a:prstGeom>
            <a:solidFill>
              <a:srgbClr val="9A392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1794" y="4176"/>
              <a:ext cx="2232" cy="1224"/>
            </a:xfrm>
            <a:prstGeom prst="roundRect">
              <a:avLst>
                <a:gd name="adj" fmla="val 18000"/>
              </a:avLst>
            </a:prstGeom>
            <a:solidFill>
              <a:srgbClr val="EAF1FB"/>
            </a:solidFill>
            <a:ln w="1270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1794" y="4176"/>
              <a:ext cx="2232" cy="202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794" y="4599"/>
              <a:ext cx="2232" cy="666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2E75B6"/>
                  </a:solidFill>
                  <a:latin typeface="微软雅黑" panose="020B0503020204020204" charset="-122"/>
                  <a:ea typeface="微软雅黑" panose="020B0503020204020204" charset="-122"/>
                </a:rPr>
                <a:t>浏览器</a:t>
              </a:r>
              <a:endPara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15000"/>
                </a:lnSpc>
              </a:pPr>
              <a:r>
                <a:rPr sz="1200" b="1">
                  <a:solidFill>
                    <a:srgbClr val="2E75B6"/>
                  </a:solidFill>
                  <a:latin typeface="微软雅黑" panose="020B0503020204020204" charset="-122"/>
                  <a:ea typeface="微软雅黑" panose="020B0503020204020204" charset="-122"/>
                </a:rPr>
                <a:t>/ 手机（人）</a:t>
              </a:r>
              <a:endPara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Up-Down Arrow 39"/>
            <p:cNvSpPr/>
            <p:nvPr/>
          </p:nvSpPr>
          <p:spPr>
            <a:xfrm>
              <a:off x="12722" y="3485"/>
              <a:ext cx="374" cy="691"/>
            </a:xfrm>
            <a:prstGeom prst="upDownArrow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11213" y="2664"/>
              <a:ext cx="721" cy="403"/>
            </a:xfrm>
            <a:prstGeom prst="leftRightArrow">
              <a:avLst/>
            </a:prstGeom>
            <a:solidFill>
              <a:srgbClr val="246B8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33705" y="4691232"/>
            <a:ext cx="11183112" cy="1503828"/>
            <a:chOff x="683" y="7171"/>
            <a:chExt cx="17611" cy="1656"/>
          </a:xfrm>
        </p:grpSpPr>
        <p:sp>
          <p:nvSpPr>
            <p:cNvPr id="58" name="Rounded Rectangle 57"/>
            <p:cNvSpPr/>
            <p:nvPr/>
          </p:nvSpPr>
          <p:spPr>
            <a:xfrm>
              <a:off x="683" y="7171"/>
              <a:ext cx="8640" cy="1656"/>
            </a:xfrm>
            <a:prstGeom prst="roundRect">
              <a:avLst>
                <a:gd name="adj" fmla="val 10000"/>
              </a:avLst>
            </a:prstGeom>
            <a:solidFill>
              <a:srgbClr val="EEF8F2"/>
            </a:solidFill>
            <a:ln w="22860">
              <a:solidFill>
                <a:srgbClr val="236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683" y="7171"/>
              <a:ext cx="8640" cy="202"/>
            </a:xfrm>
            <a:prstGeom prst="rect">
              <a:avLst/>
            </a:prstGeom>
            <a:solidFill>
              <a:srgbClr val="2368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899" y="7459"/>
              <a:ext cx="2160" cy="432"/>
            </a:xfrm>
            <a:prstGeom prst="roundRect">
              <a:avLst>
                <a:gd name="adj" fmla="val 50000"/>
              </a:avLst>
            </a:prstGeom>
            <a:solidFill>
              <a:srgbClr val="2368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99" y="7557"/>
              <a:ext cx="2160" cy="237"/>
            </a:xfrm>
            <a:prstGeom prst="rect">
              <a:avLst/>
            </a:prstGeom>
            <a:noFill/>
          </p:spPr>
          <p:txBody>
            <a:bodyPr wrap="square" lIns="73152" tIns="0" rIns="73152" bIns="0" anchor="ctr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本课例子 ✓</a:t>
              </a:r>
              <a:endPara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203" y="7480"/>
              <a:ext cx="5760" cy="389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b="1">
                  <a:solidFill>
                    <a:srgbClr val="23684B"/>
                  </a:solidFill>
                  <a:latin typeface="微软雅黑" panose="020B0503020204020204" charset="-122"/>
                  <a:ea typeface="微软雅黑" panose="020B0503020204020204" charset="-122"/>
                </a:rPr>
                <a:t>B/S（Browser/Server）</a:t>
              </a:r>
              <a:endParaRPr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71" y="7963"/>
              <a:ext cx="8064" cy="703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0">
                  <a:solidFill>
                    <a:srgbClr val="172033"/>
                  </a:solidFill>
                  <a:latin typeface="微软雅黑" panose="020B0503020204020204" charset="-122"/>
                  <a:ea typeface="微软雅黑" panose="020B0503020204020204" charset="-122"/>
                </a:rPr>
                <a:t>浏览器 + Web 服务器：用户不装专门客户端，用浏览器或手机访问 Flask 服务器即可。</a:t>
              </a:r>
              <a:endPara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9654" y="7171"/>
              <a:ext cx="8640" cy="1656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2700">
              <a:solidFill>
                <a:srgbClr val="D7E0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654" y="7171"/>
              <a:ext cx="8640" cy="202"/>
            </a:xfrm>
            <a:prstGeom prst="rect">
              <a:avLst/>
            </a:prstGeom>
            <a:solidFill>
              <a:srgbClr val="97A1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9942" y="7480"/>
              <a:ext cx="5760" cy="389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b="1">
                  <a:solidFill>
                    <a:srgbClr val="5D6B7D"/>
                  </a:solidFill>
                  <a:latin typeface="微软雅黑" panose="020B0503020204020204" charset="-122"/>
                  <a:ea typeface="微软雅黑" panose="020B0503020204020204" charset="-122"/>
                </a:rPr>
                <a:t>C/S（Client/Server）</a:t>
              </a:r>
              <a:endParaRPr b="1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942" y="7963"/>
              <a:ext cx="8064" cy="703"/>
            </a:xfrm>
            <a:prstGeom prst="rect">
              <a:avLst/>
            </a:prstGeom>
            <a:noFill/>
          </p:spPr>
          <p:txBody>
            <a:bodyPr wrap="square" lIns="45720" tIns="18288" rIns="45720" bIns="18288" anchor="t">
              <a:sp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0">
                  <a:solidFill>
                    <a:srgbClr val="5D6B7D"/>
                  </a:solidFill>
                  <a:latin typeface="微软雅黑" panose="020B0503020204020204" charset="-122"/>
                  <a:ea typeface="微软雅黑" panose="020B0503020204020204" charset="-122"/>
                </a:rPr>
                <a:t>专门客户端 + 服务器：例如 QQ 客户端 + QQ 服务器；用户必须先安装专门程序才能使用。</a:t>
              </a:r>
              <a:endParaRPr sz="14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0" name="TextBox 56"/>
          <p:cNvSpPr txBox="1"/>
          <p:nvPr/>
        </p:nvSpPr>
        <p:spPr>
          <a:xfrm>
            <a:off x="433705" y="4233545"/>
            <a:ext cx="11182985" cy="3532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活动一 · 这是 B/S 还是 C/S 架构？</a:t>
            </a:r>
            <a:endParaRPr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ight Arrow 23"/>
          <p:cNvSpPr/>
          <p:nvPr/>
        </p:nvSpPr>
        <p:spPr>
          <a:xfrm>
            <a:off x="9609035" y="1693297"/>
            <a:ext cx="495282" cy="278389"/>
          </a:xfrm>
          <a:prstGeom prst="leftRightArrow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23"/>
          <p:cNvSpPr/>
          <p:nvPr/>
        </p:nvSpPr>
        <p:spPr>
          <a:xfrm>
            <a:off x="5818085" y="1723777"/>
            <a:ext cx="495282" cy="278389"/>
          </a:xfrm>
          <a:prstGeom prst="leftRightArrow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23"/>
          <p:cNvSpPr/>
          <p:nvPr/>
        </p:nvSpPr>
        <p:spPr>
          <a:xfrm>
            <a:off x="3956900" y="1693297"/>
            <a:ext cx="495282" cy="278389"/>
          </a:xfrm>
          <a:prstGeom prst="leftRightArrow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四、模块功能分析 · 智能终端 vs Flask 服务器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19200"/>
            <a:ext cx="11145520" cy="518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898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141732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活动页问题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9856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模块功能匹配（连线题）</a:t>
            </a:r>
            <a:endParaRPr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83385" y="2606675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E6F2F6"/>
          </a:solidFill>
          <a:ln w="1905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83385" y="2596515"/>
            <a:ext cx="1691640" cy="146304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3385" y="2797683"/>
            <a:ext cx="169164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智能终端</a:t>
            </a:r>
            <a:endParaRPr sz="13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micro:bit 程序</a:t>
            </a:r>
            <a:endParaRPr sz="13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83385" y="4069715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FDECDD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83385" y="4069715"/>
            <a:ext cx="1691640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83385" y="4270883"/>
            <a:ext cx="169164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Flask 服务器</a:t>
            </a:r>
            <a:endParaRPr sz="13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接收 · 判断 · 渲染</a:t>
            </a:r>
            <a:endParaRPr sz="13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29985" y="129413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229985" y="149542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读取温度数据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29985" y="2125345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6229985" y="232664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判断是否超过阈值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9985" y="296672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6229985" y="316801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控制蜂鸣器报警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29985" y="3808095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6229985" y="400875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上传数据到网络</a:t>
            </a:r>
            <a:endParaRPr lang="zh-CN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29985" y="466979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6229985" y="487045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将数据存入数据库</a:t>
            </a:r>
            <a:endParaRPr lang="zh-CN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27"/>
          <p:cNvSpPr/>
          <p:nvPr/>
        </p:nvSpPr>
        <p:spPr>
          <a:xfrm>
            <a:off x="6229985" y="550164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TextBox 28"/>
          <p:cNvSpPr txBox="1"/>
          <p:nvPr/>
        </p:nvSpPr>
        <p:spPr>
          <a:xfrm>
            <a:off x="6229985" y="570230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alt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altLang="en-US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四、模块功能分析 · 智能终端 vs Flask 服务器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19200"/>
            <a:ext cx="11145520" cy="518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898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141732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活动页问题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4998567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模块功能匹配（连线题）</a:t>
            </a:r>
            <a:endParaRPr sz="15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83385" y="2606675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E6F2F6"/>
          </a:solidFill>
          <a:ln w="1905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83385" y="2596515"/>
            <a:ext cx="1691640" cy="146304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3385" y="2797683"/>
            <a:ext cx="169164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智能终端</a:t>
            </a:r>
            <a:endParaRPr sz="13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micro:bit 程序</a:t>
            </a:r>
            <a:endParaRPr sz="13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83385" y="4069715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FDECDD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83385" y="4069715"/>
            <a:ext cx="1691640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83385" y="4270883"/>
            <a:ext cx="1691640" cy="89611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Flask 服务器</a:t>
            </a:r>
            <a:endParaRPr sz="13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接收 · 判断 · 渲染</a:t>
            </a:r>
            <a:endParaRPr sz="13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29985" y="129413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6229985" y="149542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读取温度数据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29985" y="2125345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3" name="TextBox 22"/>
          <p:cNvSpPr txBox="1"/>
          <p:nvPr/>
        </p:nvSpPr>
        <p:spPr>
          <a:xfrm>
            <a:off x="6229985" y="232664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判断是否超过阈值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29985" y="296672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TextBox 24"/>
          <p:cNvSpPr txBox="1"/>
          <p:nvPr/>
        </p:nvSpPr>
        <p:spPr>
          <a:xfrm>
            <a:off x="6229985" y="316801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控制蜂鸣器报警</a:t>
            </a:r>
            <a:endParaRPr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29985" y="3808095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7" name="TextBox 26"/>
          <p:cNvSpPr txBox="1"/>
          <p:nvPr/>
        </p:nvSpPr>
        <p:spPr>
          <a:xfrm>
            <a:off x="6229985" y="4008755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上传数据到网络</a:t>
            </a:r>
            <a:endParaRPr lang="zh-CN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29985" y="466979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6229985" y="487045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将数据存入数据库</a:t>
            </a:r>
            <a:endParaRPr lang="zh-CN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27"/>
          <p:cNvSpPr/>
          <p:nvPr/>
        </p:nvSpPr>
        <p:spPr>
          <a:xfrm>
            <a:off x="6229985" y="5501640"/>
            <a:ext cx="2634615" cy="81978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2" name="TextBox 28"/>
          <p:cNvSpPr txBox="1"/>
          <p:nvPr/>
        </p:nvSpPr>
        <p:spPr>
          <a:xfrm>
            <a:off x="6229985" y="5702300"/>
            <a:ext cx="2627630" cy="3041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altLang="zh-CN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 sz="20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altLang="en-US" sz="20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直接箭头连接符 52"/>
          <p:cNvCxnSpPr>
            <a:stCxn id="16" idx="3"/>
          </p:cNvCxnSpPr>
          <p:nvPr/>
        </p:nvCxnSpPr>
        <p:spPr>
          <a:xfrm flipV="1">
            <a:off x="3375025" y="1799590"/>
            <a:ext cx="2854960" cy="14458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6" idx="3"/>
          </p:cNvCxnSpPr>
          <p:nvPr/>
        </p:nvCxnSpPr>
        <p:spPr>
          <a:xfrm flipV="1">
            <a:off x="3375025" y="2596515"/>
            <a:ext cx="2854960" cy="64897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16" idx="3"/>
          </p:cNvCxnSpPr>
          <p:nvPr/>
        </p:nvCxnSpPr>
        <p:spPr>
          <a:xfrm>
            <a:off x="3375025" y="3245485"/>
            <a:ext cx="2854960" cy="2266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16" idx="3"/>
          </p:cNvCxnSpPr>
          <p:nvPr/>
        </p:nvCxnSpPr>
        <p:spPr>
          <a:xfrm>
            <a:off x="3375025" y="3245485"/>
            <a:ext cx="2854960" cy="10674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V="1">
            <a:off x="3375025" y="2630805"/>
            <a:ext cx="2854960" cy="19996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V="1">
            <a:off x="3375025" y="3472180"/>
            <a:ext cx="2854960" cy="11557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3375025" y="4627880"/>
            <a:ext cx="2854960" cy="5391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endCxn id="52" idx="1"/>
          </p:cNvCxnSpPr>
          <p:nvPr/>
        </p:nvCxnSpPr>
        <p:spPr>
          <a:xfrm>
            <a:off x="3375025" y="4630420"/>
            <a:ext cx="2854960" cy="12242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4953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五</a:t>
            </a: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、活动二 · 任务要求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70408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活动二 · 软件分析：任务步骤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>
            <p:custDataLst>
              <p:tags r:id="rId1"/>
            </p:custDataLst>
          </p:nvPr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927418" y="204089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417320" y="1965960"/>
            <a:ext cx="5943600" cy="37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点击「软件分析」界面，进入活动二。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>
            <p:custDataLst>
              <p:tags r:id="rId4"/>
            </p:custDataLst>
          </p:nvPr>
        </p:nvSpPr>
        <p:spPr>
          <a:xfrm>
            <a:off x="777240" y="288036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927418" y="290957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1417320" y="283464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观察 micro:bit 智能终端代码：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找服务器 IP、端口、上传路由、引脚、GET 参数。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>
            <p:custDataLst>
              <p:tags r:id="rId7"/>
            </p:custDataLst>
          </p:nvPr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927418" y="377825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417320" y="370332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观察 Flask 服务端代码：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找上传路由、查看路由、写库语句。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10"/>
            </p:custDataLst>
          </p:nvPr>
        </p:nvSpPr>
        <p:spPr>
          <a:xfrm>
            <a:off x="777240" y="46177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927418" y="464693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1417320" y="4572000"/>
            <a:ext cx="5943600" cy="7239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完成页面填空与选择，并在导学案上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记录未掌握的知识点。</a:t>
            </a:r>
            <a:endParaRPr sz="16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>
            <p:custDataLst>
              <p:tags r:id="rId13"/>
            </p:custDataLst>
          </p:nvPr>
        </p:nvSpPr>
        <p:spPr>
          <a:xfrm>
            <a:off x="777240" y="548640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>
            <p:custDataLst>
              <p:tags r:id="rId14"/>
            </p:custDataLst>
          </p:nvPr>
        </p:nvSpPr>
        <p:spPr>
          <a:xfrm>
            <a:off x="927418" y="5515610"/>
            <a:ext cx="156845" cy="398780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1417320" y="5440680"/>
            <a:ext cx="594360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提交活动页答案，等待教师后台讲评。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0" y="123444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234440"/>
            <a:ext cx="219456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活动页 · 答题要点</a:t>
            </a:r>
            <a:endParaRPr sz="1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0" y="1737360"/>
            <a:ext cx="391363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391363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7955280" y="1847088"/>
            <a:ext cx="3547872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智能终端代码（6 道）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55280" y="2286000"/>
            <a:ext cx="3547872" cy="17125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① 服务器 IP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② 服务器端口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③ 上传路由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④ GET 参数（可多选）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⑤ 读取温度引脚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⑥ 控制蜂鸣器引脚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0" y="4343400"/>
            <a:ext cx="3913632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343400"/>
            <a:ext cx="3913632" cy="457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7955280" y="4453128"/>
            <a:ext cx="3547872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Flask 服务端（2 道）</a:t>
            </a:r>
            <a:endParaRPr sz="16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55280" y="4892040"/>
            <a:ext cx="3547872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① 上传数据的路由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② 模拟浏览器访问的完整 URL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8860" y="4510405"/>
            <a:ext cx="4064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/>
              <a:t>复制</a:t>
            </a:r>
            <a:r>
              <a:rPr lang="en-US" altLang="zh-CN" sz="4400" b="1"/>
              <a:t>ctrl+c</a:t>
            </a:r>
            <a:endParaRPr lang="en-US" altLang="zh-CN" sz="4400" b="1"/>
          </a:p>
          <a:p>
            <a:r>
              <a:rPr lang="zh-CN" altLang="en-US" sz="4400" b="1"/>
              <a:t>粘贴</a:t>
            </a:r>
            <a:r>
              <a:rPr lang="en-US" altLang="zh-CN" sz="4400" b="1"/>
              <a:t>ctrl+v</a:t>
            </a:r>
            <a:endParaRPr lang="en-US" altLang="zh-CN" sz="4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移动通信代际配对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六、活动二 · 智能终端代码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1234440"/>
            <a:ext cx="5237536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7025" y="143560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7025" y="1435608"/>
            <a:ext cx="141732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活动页问题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841" y="1435608"/>
            <a:ext cx="1874519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共 6 道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77025" y="1920240"/>
            <a:ext cx="4780336" cy="10972"/>
          </a:xfrm>
          <a:prstGeom prst="rect">
            <a:avLst/>
          </a:prstGeom>
          <a:solidFill>
            <a:srgbClr val="D7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2745" y="210312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2745" y="210312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8505" y="205740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 IP 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8505" y="238455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192.168.1.100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722745" y="281178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2745" y="281178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8505" y="276606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服务器端口是：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8505" y="309321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5000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722745" y="352044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2745" y="352044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8505" y="347472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上传路由是：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8505" y="380187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/upload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22745" y="422910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2745" y="422910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8505" y="418338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GET 上传时必须带哪两个参数？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88505" y="453085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id    ▢ val    ▢ sensor    ▢ time（可多选）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722745" y="493776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2745" y="493776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88505" y="489204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读取温度模拟量使用的引脚是：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88505" y="523951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pin0    ▢ pin1    ▢ pin2    ▢ pin3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722745" y="564642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2745" y="564642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88505" y="560070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控制蜂鸣器执行提醒使用的引脚是：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88505" y="594817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pin0    ▢ pin1    ▢ pin2    ▢ pin3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336675"/>
            <a:ext cx="5537200" cy="5173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移动通信代际配对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六、活动二 · 智能终端代码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07420" y="6508369"/>
            <a:ext cx="59944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8425" y="1234440"/>
            <a:ext cx="5237536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7025" y="143560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7025" y="1435608"/>
            <a:ext cx="141732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活动页问题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841" y="1435608"/>
            <a:ext cx="1874519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共 6 道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77025" y="1920240"/>
            <a:ext cx="4780336" cy="10972"/>
          </a:xfrm>
          <a:prstGeom prst="rect">
            <a:avLst/>
          </a:prstGeom>
          <a:solidFill>
            <a:srgbClr val="D7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2745" y="210312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2745" y="210312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88505" y="205740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 IP 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8505" y="238455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192.168.1.100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722745" y="281178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2745" y="281178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8505" y="276606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服务器端口是：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8505" y="309321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5000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722745" y="352044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2745" y="352044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8505" y="347472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上传路由是：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8505" y="3801872"/>
            <a:ext cx="4323136" cy="367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6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/upload</a:t>
            </a:r>
            <a:endParaRPr lang="en-US" sz="16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22745" y="422910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2745" y="422910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8505" y="418338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GET 上传时必须带哪两个参数？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88505" y="453085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id    ▢ val    ▢ sensor    ▢ time（可多选）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722745" y="493776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2745" y="493776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88505" y="489204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读取温度模拟量使用的引脚是：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88505" y="523951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pin0    ▢ pin1    ▢ pin2    ▢ pin3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722745" y="5646420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2745" y="5646420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88505" y="5600700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控制蜂鸣器执行提醒使用的引脚是：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88505" y="5948172"/>
            <a:ext cx="4323136" cy="2971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pin0    ▢ pin1    ▢ pin2    ▢ pin3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336675"/>
            <a:ext cx="5537200" cy="5173980"/>
          </a:xfrm>
          <a:prstGeom prst="rect">
            <a:avLst/>
          </a:prstGeom>
        </p:spPr>
      </p:pic>
      <p:cxnSp>
        <p:nvCxnSpPr>
          <p:cNvPr id="75" name="直接箭头连接符 74"/>
          <p:cNvCxnSpPr/>
          <p:nvPr/>
        </p:nvCxnSpPr>
        <p:spPr>
          <a:xfrm>
            <a:off x="2878455" y="1515110"/>
            <a:ext cx="4118610" cy="10693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2253615" y="1742440"/>
            <a:ext cx="4743450" cy="1540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endCxn id="25" idx="1"/>
          </p:cNvCxnSpPr>
          <p:nvPr/>
        </p:nvCxnSpPr>
        <p:spPr>
          <a:xfrm>
            <a:off x="2380615" y="2057400"/>
            <a:ext cx="4707890" cy="19284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29" idx="1"/>
          </p:cNvCxnSpPr>
          <p:nvPr/>
        </p:nvCxnSpPr>
        <p:spPr>
          <a:xfrm flipV="1">
            <a:off x="2253615" y="4679315"/>
            <a:ext cx="4834890" cy="14338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2687955" y="4827905"/>
            <a:ext cx="5130165" cy="128524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1740535" y="3009265"/>
            <a:ext cx="6077585" cy="223012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1631950" y="4355465"/>
            <a:ext cx="6971665" cy="17576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七、活动二 · Flask 服务端代码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87465" y="1141095"/>
            <a:ext cx="523753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16065" y="1342263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6065" y="1342263"/>
            <a:ext cx="1417320" cy="36576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活动页问题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21881" y="1342263"/>
            <a:ext cx="1874519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共 2 道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16065" y="1826895"/>
            <a:ext cx="4780336" cy="10972"/>
          </a:xfrm>
          <a:prstGeom prst="rect">
            <a:avLst/>
          </a:prstGeom>
          <a:solidFill>
            <a:srgbClr val="D7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61785" y="2009775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1785" y="2009775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27545" y="1964055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服务器端接收智能终端上传数据的路由是：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27545" y="2311527"/>
            <a:ext cx="4323136" cy="7543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▢ /    ▢ /upload    ▢ /data    ▢ /sensor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661785" y="3175635"/>
            <a:ext cx="274320" cy="274320"/>
          </a:xfrm>
          <a:prstGeom prst="ellipse">
            <a:avLst/>
          </a:prstGeom>
          <a:solidFill>
            <a:srgbClr val="24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1785" y="3175635"/>
            <a:ext cx="274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27545" y="3129915"/>
            <a:ext cx="43231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模拟浏览器地址栏应填写完整 URL：</a:t>
            </a:r>
            <a:endParaRPr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27545" y="3477387"/>
            <a:ext cx="4323136" cy="7543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需写出协议 + 服务器 IP + 端口 + 路径。</a:t>
            </a:r>
            <a:endParaRPr sz="12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rcRect b="19068"/>
          <a:stretch>
            <a:fillRect/>
          </a:stretch>
        </p:blipFill>
        <p:spPr>
          <a:xfrm>
            <a:off x="258445" y="1064895"/>
            <a:ext cx="5975985" cy="211709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" y="3263900"/>
            <a:ext cx="5646420" cy="3495040"/>
          </a:xfrm>
          <a:prstGeom prst="rect">
            <a:avLst/>
          </a:prstGeom>
        </p:spPr>
      </p:pic>
      <p:cxnSp>
        <p:nvCxnSpPr>
          <p:cNvPr id="47" name="直接箭头连接符 46"/>
          <p:cNvCxnSpPr/>
          <p:nvPr/>
        </p:nvCxnSpPr>
        <p:spPr>
          <a:xfrm>
            <a:off x="1999615" y="1832610"/>
            <a:ext cx="5619750" cy="6775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2413635" y="3769360"/>
            <a:ext cx="5915025" cy="27412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3693160" y="3769360"/>
            <a:ext cx="5360670" cy="27412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1502410" y="3769360"/>
            <a:ext cx="8019415" cy="127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7027672" y="3792220"/>
            <a:ext cx="5120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Consolas" panose="020B0609020204030204"/>
                <a:ea typeface="Consolas" panose="020B0609020204030204"/>
              </a:rPr>
              <a:t>http://192.168.1.100:5000/</a:t>
            </a:r>
            <a:endParaRPr sz="1300" b="1">
              <a:solidFill>
                <a:srgbClr val="17203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2920" y="461772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617720"/>
            <a:ext cx="5486400" cy="14630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818888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上传数据用：GET /upload</a:t>
            </a:r>
            <a:endParaRPr sz="15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521208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智能终端发起，不是给浏览器用的。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" y="5623560"/>
            <a:ext cx="5120640" cy="2647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Consolas" panose="020B0609020204030204"/>
                <a:ea typeface="Consolas" panose="020B0609020204030204"/>
              </a:rPr>
              <a:t>http://192.168.1.100:5000/upload?id=1&amp;val=</a:t>
            </a:r>
            <a:r>
              <a:rPr lang="en-US" sz="1300" b="1">
                <a:solidFill>
                  <a:srgbClr val="172033"/>
                </a:solidFill>
                <a:latin typeface="Consolas" panose="020B0609020204030204"/>
                <a:ea typeface="Consolas" panose="020B0609020204030204"/>
              </a:rPr>
              <a:t>7</a:t>
            </a:r>
            <a:endParaRPr lang="en-US" sz="1300" b="1">
              <a:solidFill>
                <a:srgbClr val="17203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99632" y="461772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4617720"/>
            <a:ext cx="548640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4818888"/>
            <a:ext cx="51206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查看页面用：GET /</a:t>
            </a:r>
            <a:endParaRPr sz="15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82512" y="521208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浏览器 / 手机访问，服务端会渲染最近 10 条记录。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82512" y="5623560"/>
            <a:ext cx="5120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2033"/>
                </a:solidFill>
                <a:latin typeface="Consolas" panose="020B0609020204030204"/>
                <a:ea typeface="Consolas" panose="020B0609020204030204"/>
              </a:rPr>
              <a:t>http://192.168.1.100:5000/</a:t>
            </a:r>
            <a:endParaRPr sz="1300" b="1">
              <a:solidFill>
                <a:srgbClr val="172033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35" grpId="0" animBg="1"/>
      <p:bldP spid="36" grpId="0" animBg="1"/>
      <p:bldP spid="37" grpId="0"/>
      <p:bldP spid="38" grpId="0"/>
      <p:bldP spid="39" grpId="0"/>
      <p:bldP spid="40" grpId="0" animBg="1"/>
      <p:bldP spid="41" grpId="0" animBg="1"/>
      <p:bldP spid="42" grpId="0"/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4953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八</a:t>
            </a: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、模块功能小结 · 智能终端 vs Flask 服务器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02920" y="1046480"/>
            <a:ext cx="11183112" cy="4597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智能终端做「现场」事，Flask 服务器做「后台」事。</a:t>
            </a:r>
            <a:endParaRPr sz="24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02920" y="1611313"/>
            <a:ext cx="5486400" cy="3892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智能终端 micro:bit · 现场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7512" y="230428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711327" y="234143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采集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17320" y="226771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读取温度数据传感器数值进入程序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267004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pin1.read_analog()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7512" y="316153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711327" y="319868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312496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判断是否超过阈值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352729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if temp &gt; TEMP_THRESHOLD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67512" y="401878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9A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711327" y="405593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控制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398221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向执行器输出控制信号（控制蜂鸣器报警）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438454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pin2.write_digital(1/0)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7512" y="487603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711327" y="491318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483946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发起 GET</a:t>
            </a:r>
            <a:r>
              <a:rPr lang="en-US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/POST</a:t>
            </a: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 请求把数据送到服务器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24179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obloq.http_get('http://.../upload?id=&amp;val=')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199632" y="1554480"/>
            <a:ext cx="54864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Rectangle 29"/>
          <p:cNvSpPr/>
          <p:nvPr/>
        </p:nvSpPr>
        <p:spPr>
          <a:xfrm>
            <a:off x="6199632" y="1554480"/>
            <a:ext cx="54864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TextBox 30"/>
          <p:cNvSpPr txBox="1"/>
          <p:nvPr/>
        </p:nvSpPr>
        <p:spPr>
          <a:xfrm>
            <a:off x="6199632" y="1611313"/>
            <a:ext cx="5486400" cy="3892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Flask 服务器 · 后台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64224" y="230428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6408039" y="234143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14032" y="226771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altLang="zh-CN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web</a:t>
            </a:r>
            <a:r>
              <a:rPr lang="zh-CN" altLang="en-US"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服务</a:t>
            </a:r>
            <a:endParaRPr lang="zh-CN" altLang="en-US"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14032" y="2670048"/>
            <a:ext cx="4434840" cy="10255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5D6B7D"/>
                </a:solidFill>
                <a:latin typeface="Consolas" panose="020B0609020204030204"/>
                <a:ea typeface="Consolas" panose="020B0609020204030204"/>
                <a:sym typeface="+mn-ea"/>
              </a:rPr>
              <a:t>接收</a:t>
            </a:r>
            <a:r>
              <a:rPr lang="zh-CN" sz="1400">
                <a:solidFill>
                  <a:srgbClr val="5D6B7D"/>
                </a:solidFill>
                <a:latin typeface="Consolas" panose="020B0609020204030204"/>
                <a:ea typeface="Consolas" panose="020B0609020204030204"/>
                <a:sym typeface="+mn-ea"/>
              </a:rPr>
              <a:t>数据上传</a:t>
            </a:r>
            <a:r>
              <a:rPr sz="1400">
                <a:solidFill>
                  <a:srgbClr val="5D6B7D"/>
                </a:solidFill>
                <a:latin typeface="Consolas" panose="020B0609020204030204"/>
                <a:ea typeface="Consolas" panose="020B0609020204030204"/>
                <a:sym typeface="+mn-ea"/>
              </a:rPr>
              <a:t>请求</a:t>
            </a:r>
            <a:r>
              <a:rPr lang="zh-CN" sz="1400">
                <a:solidFill>
                  <a:srgbClr val="5D6B7D"/>
                </a:solidFill>
                <a:latin typeface="Consolas" panose="020B0609020204030204"/>
                <a:ea typeface="宋体" panose="02010600030101010101" pitchFamily="2" charset="-122"/>
                <a:sym typeface="+mn-ea"/>
              </a:rPr>
              <a:t>，将数据插入到数据库中</a:t>
            </a:r>
            <a:endParaRPr sz="1400">
              <a:solidFill>
                <a:srgbClr val="5D6B7D"/>
              </a:solidFill>
              <a:latin typeface="Consolas" panose="020B0609020204030204"/>
              <a:ea typeface="Consolas" panose="020B0609020204030204"/>
              <a:sym typeface="+mn-ea"/>
            </a:endParaRPr>
          </a:p>
          <a:p>
            <a:pPr algn="l">
              <a:lnSpc>
                <a:spcPct val="115000"/>
              </a:lnSpc>
            </a:pPr>
            <a:r>
              <a:rPr lang="zh-CN" sz="1400">
                <a:solidFill>
                  <a:srgbClr val="5D6B7D"/>
                </a:solidFill>
                <a:latin typeface="Consolas" panose="020B0609020204030204"/>
                <a:ea typeface="Consolas" panose="020B0609020204030204"/>
                <a:sym typeface="+mn-ea"/>
              </a:rPr>
              <a:t>提供数据查询并渲染网页</a:t>
            </a:r>
            <a:endParaRPr lang="zh-CN" sz="1400">
              <a:solidFill>
                <a:srgbClr val="5D6B7D"/>
              </a:solidFill>
              <a:latin typeface="Consolas" panose="020B0609020204030204"/>
              <a:ea typeface="Consolas" panose="020B0609020204030204"/>
              <a:sym typeface="+mn-ea"/>
            </a:endParaRPr>
          </a:p>
          <a:p>
            <a:pPr algn="l">
              <a:lnSpc>
                <a:spcPct val="115000"/>
              </a:lnSpc>
            </a:pPr>
            <a:endParaRPr lang="zh-CN" sz="1400">
              <a:solidFill>
                <a:srgbClr val="5D6B7D"/>
              </a:solidFill>
              <a:latin typeface="Consolas" panose="020B0609020204030204"/>
              <a:ea typeface="Consolas" panose="020B0609020204030204"/>
              <a:sym typeface="+mn-ea"/>
            </a:endParaRPr>
          </a:p>
          <a:p>
            <a:pPr algn="l">
              <a:lnSpc>
                <a:spcPct val="115000"/>
              </a:lnSpc>
            </a:pPr>
            <a:endParaRPr lang="zh-CN" sz="1400">
              <a:solidFill>
                <a:srgbClr val="5D6B7D"/>
              </a:solidFill>
              <a:latin typeface="Consolas" panose="020B0609020204030204"/>
              <a:ea typeface="Consolas" panose="020B0609020204030204"/>
              <a:sym typeface="+mn-ea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355777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6408039" y="359492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判断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14032" y="352120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判断是否超过阈值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14032" y="392353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alarm = 1 if temperature &gt; TEMP_THRESHOLD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64224" y="4415028"/>
            <a:ext cx="640080" cy="320040"/>
          </a:xfrm>
          <a:prstGeom prst="roundRect">
            <a:avLst>
              <a:gd name="adj" fmla="val 50000"/>
            </a:avLst>
          </a:prstGeom>
          <a:solidFill>
            <a:srgbClr val="236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6408039" y="4452176"/>
            <a:ext cx="552450" cy="24574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4032" y="4378452"/>
            <a:ext cx="443484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把温度记录写入数据库</a:t>
            </a:r>
            <a:endParaRPr sz="16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14032" y="4780788"/>
            <a:ext cx="443484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D6B7D"/>
                </a:solidFill>
                <a:latin typeface="Consolas" panose="020B0609020204030204"/>
                <a:ea typeface="Consolas" panose="020B0609020204030204"/>
              </a:rPr>
              <a:t>INSERT INTO sensorlog ...</a:t>
            </a:r>
            <a:endParaRPr sz="1400" b="0">
              <a:solidFill>
                <a:srgbClr val="5D6B7D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name="adj" fmla="val 2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502920" y="5990273"/>
            <a:ext cx="11183112" cy="31813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温度 → 智能终端（采集 + 判断 + 控制）→ IoT → Flask（接收 + 判断 + 保存）→ 数据库 → 浏览器（渲染）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4953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九</a:t>
            </a: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、活动三 · 任务要求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70408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solidFill>
            <a:srgbClr val="9A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02920" y="1222693"/>
            <a:ext cx="7040880" cy="3892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活动三 · 运行排错：任务步骤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>
            <p:custDataLst>
              <p:tags r:id="rId1"/>
            </p:custDataLst>
          </p:nvPr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920433" y="20031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371600" y="198018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点击「运行排错」界面，进入活动三。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>
            <p:custDataLst>
              <p:tags r:id="rId4"/>
            </p:custDataLst>
          </p:nvPr>
        </p:nvSpPr>
        <p:spPr>
          <a:xfrm>
            <a:off x="777240" y="26898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920433" y="27270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1371600" y="269392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打开画布 → 点击右上角「运行」。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>
            <p:custDataLst>
              <p:tags r:id="rId7"/>
            </p:custDataLst>
          </p:nvPr>
        </p:nvSpPr>
        <p:spPr>
          <a:xfrm>
            <a:off x="777240" y="34137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920433" y="34509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371600" y="342798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在模拟浏览器中输入查看数据的 URL：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10"/>
            </p:custDataLst>
          </p:nvPr>
        </p:nvSpPr>
        <p:spPr>
          <a:xfrm>
            <a:off x="777240" y="41376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920433" y="41748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1371600" y="4080764"/>
            <a:ext cx="5989320" cy="6381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根据出现的异常，结合排错步骤分析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可能的故障环节并找证据。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>
            <p:custDataLst>
              <p:tags r:id="rId13"/>
            </p:custDataLst>
          </p:nvPr>
        </p:nvSpPr>
        <p:spPr>
          <a:xfrm>
            <a:off x="777240" y="48615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>
            <p:custDataLst>
              <p:tags r:id="rId14"/>
            </p:custDataLst>
          </p:nvPr>
        </p:nvSpPr>
        <p:spPr>
          <a:xfrm>
            <a:off x="920433" y="48987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1371600" y="4824984"/>
            <a:ext cx="5989320" cy="6381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在导学案上记录故障：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现象 / 原因 / 解决方法。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>
            <p:custDataLst>
              <p:tags r:id="rId16"/>
            </p:custDataLst>
          </p:nvPr>
        </p:nvSpPr>
        <p:spPr>
          <a:xfrm>
            <a:off x="777240" y="55854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8" name="TextBox 27"/>
          <p:cNvSpPr txBox="1"/>
          <p:nvPr>
            <p:custDataLst>
              <p:tags r:id="rId17"/>
            </p:custDataLst>
          </p:nvPr>
        </p:nvSpPr>
        <p:spPr>
          <a:xfrm>
            <a:off x="920433" y="56226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18"/>
            </p:custDataLst>
          </p:nvPr>
        </p:nvSpPr>
        <p:spPr>
          <a:xfrm>
            <a:off x="1371600" y="5620004"/>
            <a:ext cx="5989320" cy="314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提交活动页</a:t>
            </a:r>
            <a:r>
              <a:rPr lang="zh-CN" sz="13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作答</a:t>
            </a:r>
            <a:endParaRPr lang="zh-CN" sz="13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72400" y="123444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8082598" y="1309688"/>
            <a:ext cx="1574165" cy="215265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400" b="1">
                <a:solidFill>
                  <a:srgbClr val="9A392F"/>
                </a:solidFill>
                <a:latin typeface="微软雅黑" panose="020B0503020204020204" charset="-122"/>
                <a:ea typeface="微软雅黑" panose="020B0503020204020204" charset="-122"/>
              </a:rPr>
              <a:t>排错 · 沿链路倒推</a:t>
            </a:r>
            <a:endParaRPr sz="1400" b="1">
              <a:solidFill>
                <a:srgbClr val="9A39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72400" y="1737360"/>
            <a:ext cx="391363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ectangle 32"/>
          <p:cNvSpPr/>
          <p:nvPr/>
        </p:nvSpPr>
        <p:spPr>
          <a:xfrm>
            <a:off x="7772400" y="1737360"/>
            <a:ext cx="391363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7955280" y="1847088"/>
            <a:ext cx="3547872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系统正向链路（5 步）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55280" y="2286000"/>
            <a:ext cx="3547872" cy="14331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① 采集（传感器 → pin1）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② 上传（终端 → IoT → WiFi）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③ 接收（Flask /upload）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④ 保存（INSERT sensorlog）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⑤ 查询渲染（GET / → 浏览器）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0" y="4069080"/>
            <a:ext cx="3913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069080"/>
            <a:ext cx="3913632" cy="457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7955280" y="4178808"/>
            <a:ext cx="3547872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记录故障</a:t>
            </a:r>
            <a:endParaRPr sz="1600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55280" y="4617720"/>
            <a:ext cx="3547872" cy="7543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现象：浏览器看到什么 / 没看到什么？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原因：哪一环出问题？看到什么证据？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解决方法：改哪里？改完怎么验证？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016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4953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十</a:t>
            </a: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、运行排错 · 现象核对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121412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6" name="Rectangle 35"/>
          <p:cNvSpPr/>
          <p:nvPr/>
        </p:nvSpPr>
        <p:spPr>
          <a:xfrm>
            <a:off x="502920" y="1214120"/>
            <a:ext cx="11183112" cy="1280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640080" y="1397000"/>
            <a:ext cx="10789920" cy="2825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完整系统链路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340967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1340967" y="1688719"/>
            <a:ext cx="1417320" cy="4406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智能终端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采集</a:t>
            </a:r>
            <a:endParaRPr sz="1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ight Arrow 39"/>
          <p:cNvSpPr/>
          <p:nvPr/>
        </p:nvSpPr>
        <p:spPr>
          <a:xfrm>
            <a:off x="2776575" y="1826768"/>
            <a:ext cx="164592" cy="164592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ounded Rectangle 40"/>
          <p:cNvSpPr/>
          <p:nvPr/>
        </p:nvSpPr>
        <p:spPr>
          <a:xfrm>
            <a:off x="2959455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2959455" y="1688719"/>
            <a:ext cx="1417320" cy="4406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智能终端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上传</a:t>
            </a:r>
            <a:endParaRPr sz="1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577943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4577943" y="1790002"/>
            <a:ext cx="1417320" cy="23812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IoT / WiFi</a:t>
            </a:r>
            <a:endParaRPr sz="1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196431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6196431" y="1688719"/>
            <a:ext cx="1417320" cy="4406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Flask</a:t>
            </a:r>
            <a:endParaRPr sz="1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接收</a:t>
            </a:r>
            <a:endParaRPr sz="1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814919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3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/>
          <p:cNvSpPr txBox="1"/>
          <p:nvPr/>
        </p:nvSpPr>
        <p:spPr>
          <a:xfrm>
            <a:off x="7814919" y="1688719"/>
            <a:ext cx="1417320" cy="4406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sz="12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保存</a:t>
            </a:r>
            <a:endParaRPr sz="12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433407" y="171704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9433407" y="1688719"/>
            <a:ext cx="1417320" cy="44069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浏览器</a:t>
            </a:r>
            <a:endParaRPr sz="1200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查询渲染</a:t>
            </a:r>
            <a:endParaRPr sz="1200" b="1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02920" y="315087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7" name="Rectangle 56"/>
          <p:cNvSpPr/>
          <p:nvPr/>
        </p:nvSpPr>
        <p:spPr>
          <a:xfrm>
            <a:off x="502920" y="3150870"/>
            <a:ext cx="3611880" cy="128016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685800" y="3352038"/>
            <a:ext cx="324612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没有温度数据</a:t>
            </a:r>
            <a:endParaRPr sz="16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800" y="3809238"/>
            <a:ext cx="3246120" cy="29337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传感器</a:t>
            </a:r>
            <a:r>
              <a:rPr lang="zh-CN"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引脚</a:t>
            </a: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智能终端</a:t>
            </a: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 pin1 → read_analog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279392" y="315087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1" name="Rectangle 60"/>
          <p:cNvSpPr/>
          <p:nvPr/>
        </p:nvSpPr>
        <p:spPr>
          <a:xfrm>
            <a:off x="4279392" y="3150870"/>
            <a:ext cx="3611880" cy="128016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4462272" y="3352038"/>
            <a:ext cx="324612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蜂鸣器不响</a:t>
            </a:r>
            <a:endParaRPr sz="16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462272" y="3809238"/>
            <a:ext cx="3246120" cy="551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阈值判断 → write_digital → pin2 → 蜂鸣器 IO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055864" y="315087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5" name="Rectangle 64"/>
          <p:cNvSpPr/>
          <p:nvPr/>
        </p:nvSpPr>
        <p:spPr>
          <a:xfrm>
            <a:off x="8055864" y="3150870"/>
            <a:ext cx="3611880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65"/>
          <p:cNvSpPr txBox="1"/>
          <p:nvPr/>
        </p:nvSpPr>
        <p:spPr>
          <a:xfrm>
            <a:off x="8238744" y="3352038"/>
            <a:ext cx="3246120" cy="3181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页面没有新记录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38744" y="3809238"/>
            <a:ext cx="3246120" cy="551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浏览器 URL → Flask 服务 → / → SELECT → 渲染</a:t>
            </a:r>
            <a:endParaRPr sz="12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ight Arrow 51"/>
          <p:cNvSpPr/>
          <p:nvPr/>
        </p:nvSpPr>
        <p:spPr>
          <a:xfrm>
            <a:off x="9189720" y="1837055"/>
            <a:ext cx="363855" cy="153670"/>
          </a:xfrm>
          <a:prstGeom prst="left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Right Arrow 51"/>
          <p:cNvSpPr/>
          <p:nvPr/>
        </p:nvSpPr>
        <p:spPr>
          <a:xfrm>
            <a:off x="4295140" y="1838325"/>
            <a:ext cx="363855" cy="153670"/>
          </a:xfrm>
          <a:prstGeom prst="left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Right Arrow 51"/>
          <p:cNvSpPr/>
          <p:nvPr/>
        </p:nvSpPr>
        <p:spPr>
          <a:xfrm>
            <a:off x="5914390" y="1837690"/>
            <a:ext cx="363855" cy="153670"/>
          </a:xfrm>
          <a:prstGeom prst="left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Right Arrow 51"/>
          <p:cNvSpPr/>
          <p:nvPr/>
        </p:nvSpPr>
        <p:spPr>
          <a:xfrm>
            <a:off x="7532370" y="1837690"/>
            <a:ext cx="363855" cy="153670"/>
          </a:xfrm>
          <a:prstGeom prst="leftRightArrow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4953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十一、活动</a:t>
            </a:r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 · 任务要求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86465" y="6508369"/>
            <a:ext cx="641350" cy="168910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1</a:t>
            </a:r>
            <a:r>
              <a:rPr 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7040880" cy="5212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7040880" cy="457200"/>
          </a:xfrm>
          <a:prstGeom prst="rect">
            <a:avLst/>
          </a:prstGeom>
          <a:solidFill>
            <a:srgbClr val="9A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502920" y="1222693"/>
            <a:ext cx="7040880" cy="38925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活动</a:t>
            </a:r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</a:t>
            </a: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自我评价</a:t>
            </a: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：任务步骤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val 11"/>
          <p:cNvSpPr/>
          <p:nvPr>
            <p:custDataLst>
              <p:tags r:id="rId1"/>
            </p:custDataLst>
          </p:nvPr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920433" y="20031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371600" y="192938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点击「</a:t>
            </a:r>
            <a:r>
              <a:rPr lang="zh-CN"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自我评价</a:t>
            </a: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」界面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>
            <p:custDataLst>
              <p:tags r:id="rId4"/>
            </p:custDataLst>
          </p:nvPr>
        </p:nvSpPr>
        <p:spPr>
          <a:xfrm>
            <a:off x="777240" y="26898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920433" y="27270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1371600" y="265328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根据自我评价的内容对自己进行打分</a:t>
            </a:r>
            <a:r>
              <a:rPr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val 17"/>
          <p:cNvSpPr/>
          <p:nvPr>
            <p:custDataLst>
              <p:tags r:id="rId7"/>
            </p:custDataLst>
          </p:nvPr>
        </p:nvSpPr>
        <p:spPr>
          <a:xfrm>
            <a:off x="777240" y="3413760"/>
            <a:ext cx="411480" cy="411480"/>
          </a:xfrm>
          <a:prstGeom prst="ellipse">
            <a:avLst/>
          </a:prstGeom>
          <a:solidFill>
            <a:srgbClr val="9A3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920433" y="3450908"/>
            <a:ext cx="125095" cy="337185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371600" y="3377184"/>
            <a:ext cx="5989320" cy="3365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打分后</a:t>
            </a:r>
            <a:r>
              <a:rPr lang="zh-CN" sz="140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sz="140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十一、课堂总结 · 五要素回顾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7A1B2"/>
                </a:solidFill>
                <a:latin typeface="微软雅黑" panose="020B0503020204020204" charset="-122"/>
                <a:ea typeface="微软雅黑" panose="020B0503020204020204" charset="-122"/>
              </a:rPr>
              <a:t>信息系统复习课 · 食堂温度监测与预警系统</a:t>
            </a:r>
            <a:endParaRPr sz="1000" b="0">
              <a:solidFill>
                <a:srgbClr val="97A1B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972800" y="6446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68680" cy="292608"/>
          </a:xfrm>
          <a:prstGeom prst="rect">
            <a:avLst/>
          </a:prstGeom>
          <a:noFill/>
        </p:spPr>
        <p:txBody>
          <a:bodyPr wrap="none" lIns="73152" tIns="0" rIns="73152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 / 12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183112" cy="2286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3112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B7D"/>
                </a:solidFill>
                <a:latin typeface="微软雅黑" panose="020B0503020204020204" charset="-122"/>
                <a:ea typeface="微软雅黑" panose="020B0503020204020204" charset="-122"/>
              </a:rPr>
              <a:t>从五个要素回顾「食堂温度监测与预警系统」：每个要素下方展开本节课用到的具体组件与对应作用。</a:t>
            </a:r>
            <a:endParaRPr sz="1300" b="0">
              <a:solidFill>
                <a:srgbClr val="5D6B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12267" y="1554480"/>
            <a:ext cx="22402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46B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2267" y="1554480"/>
            <a:ext cx="2240280" cy="868680"/>
          </a:xfrm>
          <a:prstGeom prst="rect">
            <a:avLst/>
          </a:prstGeom>
          <a:solidFill>
            <a:srgbClr val="24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9799" y="1664208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9799" y="1664208"/>
            <a:ext cx="585216" cy="585216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2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sz="22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2267" y="2267712"/>
            <a:ext cx="2240280" cy="1645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 3 项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03707" y="2551176"/>
            <a:ext cx="2057400" cy="1176528"/>
          </a:xfrm>
          <a:prstGeom prst="roundRect">
            <a:avLst>
              <a:gd name="adj" fmla="val 1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859" y="256946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食堂负责人</a:t>
            </a:r>
            <a:endParaRPr sz="11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76859" y="2862072"/>
            <a:ext cx="1911096" cy="810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发现温度异常风险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3707" y="3800856"/>
            <a:ext cx="2057400" cy="1176528"/>
          </a:xfrm>
          <a:prstGeom prst="roundRect">
            <a:avLst>
              <a:gd name="adj" fmla="val 1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859" y="381914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值班人员</a:t>
            </a:r>
            <a:endParaRPr sz="11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6859" y="4111752"/>
            <a:ext cx="1911096" cy="810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用手机访问首页，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查看实时温度 + 历史记录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3707" y="5050536"/>
            <a:ext cx="2057400" cy="1176528"/>
          </a:xfrm>
          <a:prstGeom prst="roundRect">
            <a:avLst>
              <a:gd name="adj" fmla="val 10000"/>
            </a:avLst>
          </a:prstGeom>
          <a:solidFill>
            <a:srgbClr val="E6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859" y="506882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46B86"/>
                </a:solidFill>
                <a:latin typeface="微软雅黑" panose="020B0503020204020204" charset="-122"/>
                <a:ea typeface="微软雅黑" panose="020B0503020204020204" charset="-122"/>
              </a:rPr>
              <a:t>信息技术小组</a:t>
            </a:r>
            <a:endParaRPr sz="1100" b="1">
              <a:solidFill>
                <a:srgbClr val="246B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6859" y="5361432"/>
            <a:ext cx="1911096" cy="810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搭建并维护这套系统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643987" y="1554480"/>
            <a:ext cx="22402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43987" y="1554480"/>
            <a:ext cx="2240280" cy="868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1519" y="1664208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1519" y="1664208"/>
            <a:ext cx="585216" cy="585216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硬件</a:t>
            </a:r>
            <a:endParaRPr sz="22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43987" y="2267712"/>
            <a:ext cx="2240280" cy="1645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 7 项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35427" y="2551176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08579" y="256946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温湿度传感器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08579" y="2862072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感知温度（DATA → pin1）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735427" y="3086753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8579" y="3105041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蜂鸣器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808579" y="3397649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现场声音提醒（IO → pin2）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735427" y="3622330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8579" y="3640618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micro:bit + 扩展板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08579" y="3933226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智能终端 · 读数据 + 判断 + 控制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735427" y="4157907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08579" y="4176195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IoT 模块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08579" y="4468803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把数据送上 WiFi / 互联网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735427" y="4693484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08579" y="4711772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Flask 服务器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08579" y="5004380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接收 + 处理 + 渲染页面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735427" y="5229061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08579" y="5247349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SQLite 数据库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08579" y="5539957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保存历史温度记录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735427" y="5764638"/>
            <a:ext cx="2057400" cy="462425"/>
          </a:xfrm>
          <a:prstGeom prst="roundRect">
            <a:avLst>
              <a:gd name="adj" fmla="val 10000"/>
            </a:avLst>
          </a:prstGeom>
          <a:solidFill>
            <a:srgbClr val="FD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808579" y="5782926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</a:rPr>
              <a:t>浏览器 / 手机</a:t>
            </a:r>
            <a:endParaRPr sz="11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8579" y="6075534"/>
            <a:ext cx="1911096" cy="96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用户端查看入口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975707" y="1554480"/>
            <a:ext cx="22402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75707" y="1554480"/>
            <a:ext cx="2240280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803239" y="1664208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03239" y="1664208"/>
            <a:ext cx="585216" cy="585216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软件</a:t>
            </a:r>
            <a:endParaRPr sz="22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975707" y="2267712"/>
            <a:ext cx="2240280" cy="1645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 4 项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067147" y="255117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40299" y="256946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模块功能连线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40299" y="286207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终端：采集 + 判断 + 控制 + 上传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Flask：接收 + 判断 + 保存 + 渲染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067147" y="348843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40299" y="350672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智能终端代码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40299" y="379933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pin1.read_analog  读温度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if temp &gt; 30      判阈值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pin2.write_digital 控蜂鸣器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obloq.http_get    上传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5067147" y="442569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40299" y="444398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Flask 服务端代码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140299" y="473659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@app.route('/upload')   接收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INSERT INTO sensorlog   写库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@app.route('/')         查询渲染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067147" y="536295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40299" y="538124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终端 vs 服务端</a:t>
            </a:r>
            <a:endParaRPr sz="11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140299" y="567385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终端做「现场」事；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Flask 做「后台」事。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307427" y="1554480"/>
            <a:ext cx="22402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07427" y="1554480"/>
            <a:ext cx="2240280" cy="86868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134959" y="1664208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4959" y="1664208"/>
            <a:ext cx="585216" cy="585216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网络</a:t>
            </a:r>
            <a:endParaRPr sz="2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307427" y="2267712"/>
            <a:ext cx="2240280" cy="1645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 4 项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398867" y="255117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C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72019" y="256946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IoT + WiFi</a:t>
            </a:r>
            <a:endParaRPr sz="11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72019" y="286207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让智能终端联网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398867" y="348843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C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72019" y="350672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上传请求</a:t>
            </a:r>
            <a:endParaRPr sz="11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472019" y="379933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GET /upload?id=1&amp;val=温度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398867" y="442569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C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72019" y="444398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查看请求</a:t>
            </a:r>
            <a:endParaRPr sz="11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472019" y="473659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GET /  访问 Flask 首页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398867" y="5362956"/>
            <a:ext cx="2057400" cy="864108"/>
          </a:xfrm>
          <a:prstGeom prst="roundRect">
            <a:avLst>
              <a:gd name="adj" fmla="val 10000"/>
            </a:avLst>
          </a:prstGeom>
          <a:solidFill>
            <a:srgbClr val="ECE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72019" y="538124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地址组成</a:t>
            </a:r>
            <a:endParaRPr sz="11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472019" y="5673852"/>
            <a:ext cx="1911096" cy="4983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协议 + IP + 端口 + 路径 + 参数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9639147" y="1554480"/>
            <a:ext cx="22402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6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39147" y="1554480"/>
            <a:ext cx="2240280" cy="868680"/>
          </a:xfrm>
          <a:prstGeom prst="rect">
            <a:avLst/>
          </a:prstGeom>
          <a:solidFill>
            <a:srgbClr val="236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466679" y="1664208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66679" y="1664208"/>
            <a:ext cx="585216" cy="585216"/>
          </a:xfrm>
          <a:prstGeom prst="rect">
            <a:avLst/>
          </a:prstGeom>
          <a:noFill/>
        </p:spPr>
        <p:txBody>
          <a:bodyPr wrap="none" lIns="0" rIns="0" anchor="ctr">
            <a:spAutoFit/>
          </a:bodyPr>
          <a:lstStyle/>
          <a:p>
            <a:pPr algn="ctr"/>
            <a:r>
              <a:rPr sz="22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22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639147" y="2267712"/>
            <a:ext cx="2240280" cy="1645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 5 项</a:t>
            </a:r>
            <a:endParaRPr sz="1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730587" y="2551176"/>
            <a:ext cx="2057400" cy="676656"/>
          </a:xfrm>
          <a:prstGeom prst="roundRect">
            <a:avLst>
              <a:gd name="adj" fmla="val 10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03739" y="2569464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采集数据</a:t>
            </a:r>
            <a:endParaRPr sz="11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803739" y="2862072"/>
            <a:ext cx="191109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raw → round(raw/10, 1) → 温度值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730587" y="3300984"/>
            <a:ext cx="2057400" cy="676656"/>
          </a:xfrm>
          <a:prstGeom prst="roundRect">
            <a:avLst>
              <a:gd name="adj" fmla="val 10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03739" y="3319272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上传参数</a:t>
            </a:r>
            <a:endParaRPr sz="11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803739" y="3611880"/>
            <a:ext cx="191109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id = 传感器编号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val = 温度值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9730587" y="4050792"/>
            <a:ext cx="2057400" cy="676656"/>
          </a:xfrm>
          <a:prstGeom prst="roundRect">
            <a:avLst>
              <a:gd name="adj" fmla="val 10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03739" y="4069080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数据库表</a:t>
            </a:r>
            <a:endParaRPr sz="11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803739" y="4361688"/>
            <a:ext cx="191109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sensorlog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9730587" y="4800600"/>
            <a:ext cx="2057400" cy="676656"/>
          </a:xfrm>
          <a:prstGeom prst="roundRect">
            <a:avLst>
              <a:gd name="adj" fmla="val 10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03739" y="4818888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表字段</a:t>
            </a:r>
            <a:endParaRPr sz="11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03739" y="5111496"/>
            <a:ext cx="191109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id / sensor_id / value /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alarm / timestamp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9730587" y="5550408"/>
            <a:ext cx="2057400" cy="676656"/>
          </a:xfrm>
          <a:prstGeom prst="roundRect">
            <a:avLst>
              <a:gd name="adj" fmla="val 10000"/>
            </a:avLst>
          </a:prstGeom>
          <a:solidFill>
            <a:srgbClr val="EE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03739" y="5568696"/>
            <a:ext cx="1911096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3684B"/>
                </a:solidFill>
                <a:latin typeface="微软雅黑" panose="020B0503020204020204" charset="-122"/>
                <a:ea typeface="微软雅黑" panose="020B0503020204020204" charset="-122"/>
              </a:rPr>
              <a:t>查询语句</a:t>
            </a:r>
            <a:endParaRPr sz="1100" b="1">
              <a:solidFill>
                <a:srgbClr val="2368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803739" y="5861304"/>
            <a:ext cx="191109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ORDER BY id DESC LIMIT 10</a:t>
            </a:r>
            <a:endParaRPr sz="950" b="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2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3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4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5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6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7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8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9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0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1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2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3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4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5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6.xml><?xml version="1.0" encoding="utf-8"?>
<p:tagLst xmlns:p="http://schemas.openxmlformats.org/presentationml/2006/main">
  <p:tag name="KSO_WM_DIAGRAM_VIRTUALLY_FRAME" val="{&quot;height&quot;:86.4,&quot;left&quot;:50.14795275590551,&quot;top&quot;:412.35,&quot;width&quot;:859.68}"/>
</p:tagLst>
</file>

<file path=ppt/tags/tag17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18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19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0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1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2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3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4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5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6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7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8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29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0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1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2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3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4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5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6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7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8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39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40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41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42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43.xml><?xml version="1.0" encoding="utf-8"?>
<p:tagLst xmlns:p="http://schemas.openxmlformats.org/presentationml/2006/main">
  <p:tag name="KSO_WM_DIAGRAM_VIRTUALLY_FRAME" val="{&quot;height&quot;:327.6,&quot;left&quot;:61.2,&quot;top&quot;:154.8,&quot;width&quot;:518.4}"/>
</p:tagLst>
</file>

<file path=ppt/tags/tag44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45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46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47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48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49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0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1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2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3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4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5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6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7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8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59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0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1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2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3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4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5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6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7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8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69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ags/tag70.xml><?xml version="1.0" encoding="utf-8"?>
<p:tagLst xmlns:p="http://schemas.openxmlformats.org/presentationml/2006/main">
  <p:tag name="KSO_WM_DIAGRAM_VIRTUALLY_FRAME" val="{&quot;height&quot;:331.2000000000001,&quot;left&quot;:61.2,&quot;top&quot;:151.92000000000002,&quot;width&quot;:51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4301</Words>
  <Application>WPS 演示</Application>
  <PresentationFormat>On-screen Show (4:3)</PresentationFormat>
  <Paragraphs>661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杭</cp:lastModifiedBy>
  <cp:revision>12</cp:revision>
  <dcterms:created xsi:type="dcterms:W3CDTF">2013-01-27T09:14:00Z</dcterms:created>
  <dcterms:modified xsi:type="dcterms:W3CDTF">2026-05-20T17:42:21Z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A96282B4B3AD4412A12BB711B22138F3_13</vt:lpwstr>
  </property>
</Properties>
</file>